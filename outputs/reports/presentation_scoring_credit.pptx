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94183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Scoring de Crédit et</a:t>
            </a:r>
            <a:br/>
            <a:r>
              <a:t>Prévision de Défauts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DC3C7"/>
                </a:solidFill>
              </a:defRPr>
            </a:pPr>
            <a:r>
              <a:t>Rapport Intermédiaire — 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9418320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</a:defRPr>
            </a:pPr>
            <a:r>
              <a:t>LP Data Mining — Université Gustave Eiffel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5A5A6"/>
                </a:solidFill>
              </a:defRPr>
            </a:pPr>
            <a:r>
              <a:t>S. Hamjah  |  I. Naït Daoud  |  M. Trujillo  |  V. Lawrence Raj  |  A. Ngah</a:t>
            </a:r>
            <a:br/>
            <a:r>
              <a:t>Encadrant : M. Bosco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Contexte et objectifs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920240"/>
            <a:ext cx="731520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Données et exploration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468880"/>
            <a:ext cx="731520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60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Nettoyage et qualité des 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017520"/>
            <a:ext cx="731520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59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1089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Feature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566159"/>
            <a:ext cx="731520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657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Modélisation — Régression Logistique (Baseline)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4114800"/>
            <a:ext cx="731520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206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Performances du modèle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4663440"/>
            <a:ext cx="731520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754879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7548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Analyse temporelle préliminaire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5212079"/>
            <a:ext cx="7315200" cy="91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3035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</a:defRPr>
            </a:pPr>
            <a:r>
              <a:t>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Conclusions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 Contexte et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Projet tutoré LP Data Mining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</a:defRPr>
            </a:pPr>
            <a: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Secteur bancaire : gestion du risque de crédit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Besoin de modèles prédictifs pour l'octroi de prêts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Données synthétiques réalistes (~130K dossiers clients)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Période couverte : janvier 2021 à décembre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</a:defRPr>
            </a:pPr>
            <a:r>
              <a:t>Deux axes de travail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Axe 1 — Scoring de crédit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Classification binaire : P(défaut)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Modèles : LogReg, RF, XGBoost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Métrique principale : AUC-ROC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029200" cy="1828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Axe 2 — Séries temporelles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80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Prévision du volume de défauts (3 mois)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Modèle SARIMA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Métriques : RMSE, MAE, MAPE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</a:defRPr>
            </a:pPr>
            <a:r>
              <a:t>Équipe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Shafin Hamjah — Chef de projet / Data Engineer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Ismaël Naït Daoud — Chef de projet / Data Engineer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Manon Trujillo — Data Scientist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Virginie Lawrence Raj — Data Analyst / Data Engineer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Ange Ngah — Data Scientist (séries temporelles)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Données et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Vue d'ensemble du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91440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130 000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Lignes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2011680" cy="914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Colonnes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371600"/>
            <a:ext cx="201168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371600"/>
            <a:ext cx="201168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Taux de défaut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371600"/>
            <a:ext cx="201168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 : 4.4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Ratio déséquilibre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</a:defRPr>
            </a:pPr>
            <a:r>
              <a:t>Catégories de variables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Démographiques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AGE, SEX, MARITAL_STATUS, EDUCATION_LEVEL, REGION...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Professionnelles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EMPLOYMENT_TYPE, EMPLOYMENT_SENIORITY...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Financières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INCOME, EXPENSES, LOAN_AMOUNT, DTI_RATIO, INTEREST_RATE...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Historique bancaire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SAVINGS/CHECKING_BALANCE (M1-M3), VAR_BALANCE_3M...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Comportement crédit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CREDIT_SCORE, NB_OPEN_LOANS, CREDIT_UTILIZATION...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Comportementales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Transactions POS/ATM/Online, connexions, visites...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</a:defRPr>
            </a:pPr>
            <a:r>
              <a:t>Temporelles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</a:defRPr>
            </a:pPr>
            <a:r>
              <a:t>DATE_MONTH, DEFAULTS_ORIGINATION</a:t>
            </a:r>
          </a:p>
        </p:txBody>
      </p:sp>
      <p:pic>
        <p:nvPicPr>
          <p:cNvPr id="35" name="Picture 34" descr="01_exploration_nettoyage_cell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0"/>
            <a:ext cx="5029200" cy="3119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Exploration — Variable cible et tendance temporelle</a:t>
            </a:r>
          </a:p>
        </p:txBody>
      </p:sp>
      <p:pic>
        <p:nvPicPr>
          <p:cNvPr id="4" name="Picture 3" descr="01_exploration_nettoyage_cell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3516389"/>
          </a:xfrm>
          <a:prstGeom prst="rect">
            <a:avLst/>
          </a:prstGeom>
        </p:spPr>
      </p:pic>
      <p:pic>
        <p:nvPicPr>
          <p:cNvPr id="5" name="Picture 4" descr="01_exploration_nettoyage_cell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669280" cy="3224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</a:defRPr>
            </a:pPr>
            <a:r>
              <a:t>81.4% des clients ne font pas défaut — Classes fortement déséquilibrées (ratio 1:4.4) — Nécessite SMOTE / class_weight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Nettoyage et Qualité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</a:defRPr>
            </a:pPr>
            <a:r>
              <a:t>Valeurs manquantes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1 seule colonne concernée : REGION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11 059 valeurs manquantes (8.51%)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Aucune chaîne vide détectée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0 doublons, 0 CLIENT_ID dupliqués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</a:defRPr>
            </a:pPr>
            <a:r>
              <a:t>Anomalies détectées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DTI &gt; 100% : 10 247 lignes (7.88%)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Soldes négatifs (découverts) 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  Épargne : ~17 500 / mois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  Courant : ~28 800 / mois (min = -2 000)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Aucun âge invalide détecté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</a:defRPr>
            </a:pPr>
            <a:r>
              <a:t>Résumé du nettoyage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5720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Étape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Avant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Après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Dimensions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130 000 × 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130 000 × 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Aucune suppression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Valeurs manquantes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11 059 (REGION)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Imputation mode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Mémoire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73.57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46.37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Optimisation types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Format sauvegarde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CSV (brut)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Parquet (12.8 MB)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Compression efficace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38 nouvelles variables créées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94560" cy="73152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Financières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11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SAVINGS_TO_INCOME, LOAN_TO_ANNUAL_INCOME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REPAYMENT_CAPACITY, FINANCIAL_MARGIN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EXPENSE_RATIO, FINANCIAL_STRESS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371600"/>
            <a:ext cx="219456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Comportementales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7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TOTAL_TXN_30D, ONLINE_TXN_RATIO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DIGITAL_ENGAGEMENT, MOBILE_PREFERENCE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WITHDRAWAL_DEPOSIT_RATIO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94560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Stabilité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9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SAVINGS_STABILITY, CHECKING_STABILITY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BALANCE_CV, SAVINGS/CHECKING_TREND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EMPLOYMENT/RESIDENCE_STABILITY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1371600"/>
            <a:ext cx="219456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Risque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6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RISK_SCORE_CUSTOM, CREDIT_SCORE_NORM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LOAN_UTILIZATION, HIGH_RISK_FLAG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IS_NEW_CLIENT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371600"/>
            <a:ext cx="2194560" cy="7315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417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5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AGE_SENIORITY, INCOME_CREDIT_SCORE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DTI_UTILIZATION, LOAN_INTEREST_COST</a:t>
            </a:r>
          </a:p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</a:defRPr>
            </a:pPr>
            <a:r>
              <a:t>— BALANCE_LOAN_TERM</a:t>
            </a:r>
          </a:p>
        </p:txBody>
      </p:sp>
      <p:pic>
        <p:nvPicPr>
          <p:cNvPr id="25" name="Picture 24" descr="02_feature_engineering_modeling_cell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10972800" cy="109616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5. Préparation à la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Split temporel, standardisation, rééquilibrage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2743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Split Temporel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Date de coupure : 01/01/2025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Train : 98 700 obs (75.9%)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Période &lt; 2025-01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Taux de défaut : 18.69%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Test : 31 300 obs (24.1%)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Période &gt;= 2025-01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Taux de défaut : 18.32%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Pas de random split !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74720" cy="2743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Standardisation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StandardScaler (scikit-learn)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Fit sur train uniquement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Transform sur train + test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99 features numériques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11 catégorielles encodées (Label)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2743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SMOTE (Rééquilibrage)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Avant SMOTE 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Classe 0 : 80 254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Classe 1 : 18 446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Après SMOTE 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Classe 0 : 80 254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  Classe 1 : 80 254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Total : 160 508 observations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Appliqué uniquement sur train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 split temporel garantit qu'aucune information future ne fuit dans l'entraînement (pas de data leakage). Le SMOTE est appliqué UNIQUEMENT sur le jeu d'entraînement pour ne pas biaiser l'évaluation.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Régression Logistique — Performances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Modèle baseline avec class_weight='balanced'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100584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0.7105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AUC-ROC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2011680" cy="10058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371600"/>
            <a:ext cx="201168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371600"/>
            <a:ext cx="201168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371600"/>
            <a:ext cx="201168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0.414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74320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Classe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Non défaut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25 566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Défaut (1)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0.32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0.58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0.41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5 734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Macro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31 300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Weighted avg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0.78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31 300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</a:defRPr>
            </a:pPr>
            <a:r>
              <a:t>Validation croisée (5-fold) : AUC-ROC = 0.717 ± 0.011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Folds : 0.716 | 0.716 | 0.717 | 0.710 | 0.727 — Modèle stable, pas de surapprentissage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Recall 58% : le modèle détecte plus de la moitié des défauts — bon pour un baseline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Precision 32% : 1 alerte sur 3 est un vrai défaut — à améliorer avec des modèles avancés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Visualisations des Performances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Courbe ROC, Matrice de confusion, Precision-Recall, Distribution des scores</a:t>
            </a:r>
          </a:p>
        </p:txBody>
      </p:sp>
      <p:pic>
        <p:nvPicPr>
          <p:cNvPr id="5" name="Picture 4" descr="02_feature_engineering_modeling_cell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96253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Importance des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Top 15 features — Coefficients de la régression logistique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8686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Rang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Effet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DTI_RATIO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+0.427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Augmente le risque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INSTALLMENT_TO_INCOME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+0.427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Augmente le risque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VAR_BALANCE_3M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Diminue le risque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CREDIT_SCORE_NORM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-0.172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Diminue le risque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CREDIT_SCORE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-0.172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Diminue le risque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CHECKING_STABILITY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+0.129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Augmente le risque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HAS_PREVIOUS_DEFAULT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+0.117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Augmente le risque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LOAN_AMOUNT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+0.110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Augmente le risque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INSURANCE_TAKEN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-0.108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Diminue le risque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PHONE_VERIFIED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+0.089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Augmente le risque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2_feature_engineering_modeling_cell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5480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Le ratio d'endettement (DTI) et le rapport mensualité/revenu sont les prédicteurs les plus forts du défaut.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Analyse Temporelle Préliminaire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Série DEFAULTS_ORIGINATION — 60 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8A"/>
                </a:solidFill>
              </a:defRPr>
            </a:pPr>
            <a:r>
              <a:t>Statistiques de la série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Statistique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 anchor="ctr"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Moyenne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403 défauts/mois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Écart-type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98.3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Minimum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226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Maximum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653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Médiane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Tendance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CROISSANTE (r = 0.583)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</a:defRPr>
            </a:pPr>
            <a:r>
              <a:t>Pics saisonniers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Décembre : 525 défauts (pic annuel)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Septembre : 500 défauts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Mars : 484 défauts</a:t>
            </a:r>
          </a:p>
        </p:txBody>
      </p:sp>
      <p:pic>
        <p:nvPicPr>
          <p:cNvPr id="9" name="Picture 8" descr="02_feature_engineering_modeling_cell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943600" cy="5086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Analyse de la Saisonnalité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Moyenne des défauts par mois de l'année</a:t>
            </a:r>
          </a:p>
        </p:txBody>
      </p:sp>
      <p:pic>
        <p:nvPicPr>
          <p:cNvPr id="5" name="Picture 4" descr="02_feature_engineering_modeling_cell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44000" cy="5438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Saisonnalité marquée : pics en fin d'année (décembre) et en fin de trimestre — à intégrer dans le modèle SARIMA (composante saisonnière S=12)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Conclusions et 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8A"/>
                </a:solidFill>
              </a:defRPr>
            </a:pPr>
            <a:r>
              <a:t>Bilan Phase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Exploration complète : 130K lignes, 66 colonnes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Nettoyage : 1 variable avec manquants traitée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Feature engineering : 38 nouvelles features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5 catégories : financières, comportementales, stabilité, risque, interactions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Modèle baseline (LogReg) : AUC-ROC = 0.71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Validation croisée stable : 0.717 ± 0.011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Analyse temporelle : tendance croissante + saisonnalité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✓ Tous les résultats sauvegardés (parquet, joblib, 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Phase 2 — Prochaines étapes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Optimisation hyperparamètres (GridSearch/Bayesian)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Modèles avancés : Random Forest, XGBoost, LightGBM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Sélection de variables (importance, RFE)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Calibration des probabilités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Modèle SARIMA(p,d,q)(P,D,Q,12)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Tests de stationnarité (ADF, KPSS)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Prévisions 3 mois avec intervalles de confiance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➤ Dashboard de visualisation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 2 : Janvier — Mars 2026  |  Phase 3 (finale) : Avril — Juin 2026  |  Soutenance :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484632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</a:defRPr>
            </a:pPr>
            <a:r>
              <a:t>Scoring de Crédit et Prévision de Défauts</a:t>
            </a:r>
            <a:br/>
            <a:r>
              <a:t>LP Data Mining — Université Gustave Eiffel —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